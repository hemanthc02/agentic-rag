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645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M.TECH (AI &amp; ML)  •  MINOR PROJECT  •  REVIEW 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Multi-Agent RAG System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3063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Academic Research Assistance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069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CPU-Friendly Agentic Pipeline with Citation Faithfulness Verification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5120640"/>
            <a:ext cx="10515600" cy="36576"/>
          </a:xfrm>
          <a:prstGeom prst="rect">
            <a:avLst/>
          </a:prstGeom>
          <a:solidFill>
            <a:srgbClr val="F4A261">
              <a:alpha val="50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257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 (2025–26)     </a:t>
            </a:r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Hardware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CPU-only, no GPU     </a:t>
            </a:r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Backends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(fast) + Ollama (private)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B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[Your Name]    |    Guide:  [Guide Name]    |    Date:  [Review Date]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1.1 — PROJECT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Background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" cy="45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RAG for Academic Research  •  Review 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6400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output is exploding. 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alone receives over 15,000 new papers per month. Researchers spend roughly 23% of their working time on literature search and synthesis (Outsell, 2023).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LLMs hallucinate. 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(RAG) grounds answers in real documents — but vanilla RAG cites without verifying.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 has emerged as a dominant 2025-26 trend,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works like SQuAI, MA-RAG, MAIN-RAG decomposing the RAG task across collaborating agents to improve answer quality.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498080" y="1828800"/>
            <a:ext cx="411480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0" y="1828800"/>
            <a:ext cx="73152" cy="12344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0" y="19202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57%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680960" y="25603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RAG citations are unfaithful (Wallat et al. 2024)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498080" y="3246120"/>
            <a:ext cx="411480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0" y="3246120"/>
            <a:ext cx="73152" cy="12344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0" y="33375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15k+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7680960" y="3977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arXiv papers per month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98080" y="4663440"/>
            <a:ext cx="411480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0" y="4663440"/>
            <a:ext cx="73152" cy="12344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0" y="47548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7680960" y="53949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 time spent on literature search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1.2 — PROJECT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Case &amp; Industry Need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" cy="45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RAG for Academic Research  •  Review 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39496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28800"/>
            <a:ext cx="5394960" cy="73152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99339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Pharma &amp; Biotech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4231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Drug-discovery literature reviews; e.g., Eli Lilly, Pfizer pilot internal RAG.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017520"/>
            <a:ext cx="1554480" cy="274320"/>
          </a:xfrm>
          <a:prstGeom prst="roundRect">
            <a:avLst>
              <a:gd name="adj" fmla="val 16667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017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↓ 30–50%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828800"/>
            <a:ext cx="539496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828800"/>
            <a:ext cx="5394960" cy="73152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99339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Legal Tech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4231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Case-law retrieval and brief drafting; Harvey AI raised $300M+ for legal RAG.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0" y="3017520"/>
            <a:ext cx="1554480" cy="274320"/>
          </a:xfrm>
          <a:prstGeom prst="roundRect">
            <a:avLst>
              <a:gd name="adj" fmla="val 16667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3017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↓ ~40%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657600"/>
            <a:ext cx="539496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657600"/>
            <a:ext cx="5394960" cy="73152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82219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Academic Publishing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31520" y="42519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Elsevier launched Scopus AI in 2024 — paid, cloud-based, closed corpus.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1520" y="4846320"/>
            <a:ext cx="1554480" cy="274320"/>
          </a:xfrm>
          <a:prstGeom prst="roundRect">
            <a:avLst>
              <a:gd name="adj" fmla="val 16667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846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gap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3657600"/>
            <a:ext cx="539496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3657600"/>
            <a:ext cx="5394960" cy="73152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382219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EdTech &amp; Tutoring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400800" y="42519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Khan Academy, Coursera integrating RAG-based study assistants.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0" y="4846320"/>
            <a:ext cx="1554480" cy="274320"/>
          </a:xfrm>
          <a:prstGeom prst="roundRect">
            <a:avLst>
              <a:gd name="adj" fmla="val 16667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4846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2025+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value: </a:t>
            </a:r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multi-agent RAG running on a laptop. A local Ollama mode keeps data on-device for sensitive corpora; a Groq mode delivers fast cloud-quality answers when speed matters more than residency.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1.3 — PROJECT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Definition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" cy="45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RAG for Academic Research  •  Review 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6858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can we build a research-assistant system that </a:t>
            </a:r>
            <a:pPr indent="0" marL="0">
              <a:buNone/>
            </a:pPr>
            <a:r>
              <a:rPr lang="en-US" sz="22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answers complex academic questions </a:t>
            </a:r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a local PDF corpus </a:t>
            </a:r>
            <a:pPr indent="0" marL="0">
              <a:buNone/>
            </a:pPr>
            <a:r>
              <a:rPr lang="en-US" sz="22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citations that are demonstrably faithful </a:t>
            </a:r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the cited evidence, </a:t>
            </a:r>
            <a:pPr indent="0" marL="0">
              <a:buNone/>
            </a:pPr>
            <a:r>
              <a:rPr lang="en-US" sz="2200" i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while running on consumer-grade CPU hardware?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44805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requires solving four sub-problems: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800600"/>
            <a:ext cx="6858000" cy="14173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multi-hop research questions into atomic sub-queries.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relevant chunks and decide when they are not good enough (CRAG).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grounded answers with structured inline citations.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each generated claim is entailed by its cited evidence.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0" y="1828800"/>
            <a:ext cx="3840480" cy="429768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0" y="1965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Root causes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955280" y="2423160"/>
            <a:ext cx="3566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hallucinate.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Plausible-sounding text without grounding.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RAG over-trusts retrieval.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cites whatever it retrieves — even when irrelevant.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get post-rationalised.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picks citations after writing the answer.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RAG ≠ private RAG.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corpora cannot leave the device.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1.4 — PROJECT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Goals &amp; Success Metrics (KPIs)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" cy="45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RAG for Academic Research  •  Review 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1828800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multi-agent RAG pipeline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0" y="1901952"/>
            <a:ext cx="0" cy="56692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06440" y="1828800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37960" y="182880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agents (Planner / Retriever / Synth / Verifier) functional and tested end-to-end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587752"/>
            <a:ext cx="457200" cy="4572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2587752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citation faithfulness over vanilla RAG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0" y="2660904"/>
            <a:ext cx="0" cy="56692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06440" y="2587752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37960" y="2587752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NLI entailment ≥ 0.6 for ≥ 80% of generated claims (baseline ~43%, Wallat 2024)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346704"/>
            <a:ext cx="457200" cy="4572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346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88720" y="3346704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or beat vanilla RAG on standard RAG metrics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669280" y="3419856"/>
            <a:ext cx="0" cy="56692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06440" y="3346704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37960" y="3346704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10% gain in RAGAS Faithfulness, ≥ 5% gain in Answer Relevance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4105656"/>
            <a:ext cx="457200" cy="4572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105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88720" y="4105656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consumer hardware, dual-mode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669280" y="4178808"/>
            <a:ext cx="0" cy="56692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06440" y="4105656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537960" y="4105656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i7 13th-gen, 16 GB RAM, no GPU; supports Groq (cloud) and Ollama (local) backends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8640" y="4864608"/>
            <a:ext cx="457200" cy="4572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864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188720" y="4864608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latency acceptable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669280" y="4937760"/>
            <a:ext cx="0" cy="56692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06440" y="4864608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537960" y="4864608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mode ≤ 30 s/question; Ollama mode ≤ 90 s/question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48640" y="589788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test: paired t-test, p &lt; 0.05, on a 20-question hand-curated benchmark.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1.5 — PROJECT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 &amp; Out-of-Scope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" cy="45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RAG for Academic Research  •  Review 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486400" cy="4297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28800"/>
            <a:ext cx="5486400" cy="45720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288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 SCOPE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468880"/>
            <a:ext cx="4937760" cy="34747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English-language scientific PDFs (~30–50 papers)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Text-only retrieval (paragraph-level chunks)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pipeline with LangGraph orchestration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CRAG-style relevance grading + re-query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NLI-based per-claim citation verifier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interchangeable LLM backends: Groq + Ollama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 for upload + ask + cite-trace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metrics + custom citation-faithfulness score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09360" y="1828800"/>
            <a:ext cx="5486400" cy="4297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1828800"/>
            <a:ext cx="5486400" cy="457200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8288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  OF  SCOPE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83680" y="2468880"/>
            <a:ext cx="4937760" cy="34747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(figures, tables, equations as images)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support (Hindi, Telugu, other Indian languages)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web search integration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of any LLM or embedding model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multi-user deployment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or browser-extension front-ends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licensing / paid hosting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the researcher’s own reading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1.6 — PROJECT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Stakeholders &amp; Roles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" cy="45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RAG for Academic Research  •  Review 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394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28800"/>
            <a:ext cx="91440" cy="123444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965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 Users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3774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Researchers, M.Tech / PhD students, librarians who upload their own PDF library and need cited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828800"/>
            <a:ext cx="5394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828800"/>
            <a:ext cx="91440" cy="123444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965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23774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author — design, implementation, evaluation, paper drafting.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246120"/>
            <a:ext cx="5394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246120"/>
            <a:ext cx="91440" cy="123444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383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Guide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37947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mentor — scope approval, architectural feedback, review sign-off.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5394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3246120"/>
            <a:ext cx="91440" cy="123444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3383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Panel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92240" y="37947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faculty — evaluates each project review and final defence.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663440"/>
            <a:ext cx="5394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663440"/>
            <a:ext cx="91440" cy="123444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800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Beneficiaries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2960" y="52120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community + downstream Agentic-RAG researchers using the reference implementation.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17920" y="4663440"/>
            <a:ext cx="5394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4663440"/>
            <a:ext cx="91440" cy="123444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4800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Steward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92240" y="52120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 user — owns and controls their PDF corpus; full control over backend choice.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2.1 — AI/ML PROBLEM FRAMING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Type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" cy="45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RAG for Academic Research  •  Review 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1064240" cy="91440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PRIMARY: 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Natural Language Processing — Question Answering with Retrieval Augmentation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539496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108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Semantic Search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474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Retrieval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7947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query, find nearest chunks in FAISS.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3017520"/>
            <a:ext cx="539496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108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Query Decomposition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3474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Sequence-to-Sequence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37947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rewrites complex question into atomic sub-questions.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526280"/>
            <a:ext cx="539496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617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 Generation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4983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Language Modeling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53035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generates the answer conditioned on retrieved evidence.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7920" y="4526280"/>
            <a:ext cx="539496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4617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 Verification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0" y="4983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Inference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53035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NLI model scores entailment of claim vs cited chunk.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126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Classification / Regression / Forecasting / Computer-Vision task.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2.2 — AI/ML PROBLEM FRAMING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Industry Relevance &amp; Impact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" cy="45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RAG for Academic Research  •  Review 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deployment patterns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61264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Automation.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automate first-pass literature reviews; teams generate annotated bibliographies overnight.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Accuracy.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Citation-faithfulness verification removes a major class of LLM hallucination in scholarly writing.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reduction.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CPU-only, free-tier API → near-zero marginal cost for individual researchers and small labs.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Compliance.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local mode keeps data on-device for pharma, legal, and government workflows with strict residency rules.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0" y="1828800"/>
            <a:ext cx="4754880" cy="429768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0" y="19659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signal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40880" y="2423160"/>
            <a:ext cx="44805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$50B+</a:t>
            </a:r>
            <a:endParaRPr lang="en-US" sz="3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scholarly publishing market</a:t>
            </a:r>
            <a:endParaRPr lang="en-US" sz="3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3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$300M+</a:t>
            </a:r>
            <a:endParaRPr lang="en-US" sz="3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Harvey AI funding for legal RAG (2024)</a:t>
            </a:r>
            <a:endParaRPr lang="en-US" sz="3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3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30–50%</a:t>
            </a:r>
            <a:endParaRPr lang="en-US" sz="3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literature-review time cut by enterprise RAG users (Outsell, 2024)</a:t>
            </a:r>
            <a:endParaRPr lang="en-US" sz="3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2.3 — AI/ML PROBLEM FRAMING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Formal ML Task Definition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" cy="45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RAG for Academic Research  •  Review 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106424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659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CA6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  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 (user question, free-form text)   +   C  (corpus of PDF documents)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CA6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 (answer text)   +   { (claim_i, evidence_i, faithfulness_i) }  for i = 1..k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CA6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Goal:    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maximize  faithfulness  AND  answer_relevance  s.t.  latency  budget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337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Decomposed into four learned-or-prompted sub-tasks: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26517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4023360"/>
            <a:ext cx="502920" cy="50292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5880" y="4069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47548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→ { q_1, …, q_n }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83280" y="3840480"/>
            <a:ext cx="26517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66160" y="4023360"/>
            <a:ext cx="502920" cy="50292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160520" y="4069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Retrieve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566160" y="47548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q_i → top-k chunks  (FAISS)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3840480"/>
            <a:ext cx="26517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4023360"/>
            <a:ext cx="502920" cy="50292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95160" y="4069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Synthesize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00800" y="47548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(Q, chunks) → A  with inline cites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052560" y="3840480"/>
            <a:ext cx="26517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35440" y="4023360"/>
            <a:ext cx="502920" cy="50292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3544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829800" y="4069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Verify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235440" y="47548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NLI(claim_i, ev_i) → score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2.4 — AI/ML PROBLEM FRAMING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Success Metrics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" cy="45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RAG for Academic Research  •  Review 01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4754880"/>
                <a:gridCol w="1463040"/>
                <a:gridCol w="16459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 (short)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RAGAS Faithfulness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Fraction of generated statements supported by context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A6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0.85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RAGAS [8]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RAGAS Answer Relevance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alignment of answer with the question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A6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0.80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RAGAS [8]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RAGAS Context 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Top-ranked chunks actually relevant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A6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0.75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RAGAS [8]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RAGAS Context 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info covered by retrieved chunks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A6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0.75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RAGAS [8]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Citation Faithfulness (ours)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NLI entailment over cited claims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A6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0.80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 — Groq mode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Wall-clock time per question, cloud backend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A6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30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 — Ollama mode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Wall-clock time per question, local backend (Phi-3-mini)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A6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90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6126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Comparison: vanilla RAG vs multi-agent vs multi-agent+verifier, in both Groq and Ollama modes (paired t-test, α = 0.05).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2.5 — AI/ML PROBLEM FRAMING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Ethical, Privacy &amp; Fairness Considerations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" cy="45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RAG for Academic Research  •  Review 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394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28800"/>
            <a:ext cx="539496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99339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Privacy — Groq mode (default)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3317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 stay on the device; the question and retrieved chunks are sent to Groq’s API, which by policy does not train on inputs. Suitable when speed and quality matter more than full data residency.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828800"/>
            <a:ext cx="5394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828800"/>
            <a:ext cx="539496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99339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Privacy — Ollama mode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23317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Phi-3-mini runs locally via Ollama. Nothing leaves the device. Suitable for unpublished research, pharma, legal, and other air-gapped or residency-restricted workflows.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291840"/>
            <a:ext cx="5394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291840"/>
            <a:ext cx="5394960" cy="73152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4564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Bias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37947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 (MiniLM) and the LLM inherit biases from web training data. Acknowledged explicitly; the system does not claim impartiality.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3291840"/>
            <a:ext cx="5394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3291840"/>
            <a:ext cx="5394960" cy="73152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34564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Fairness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0" y="37947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only. Out-of-scope for non-English research — disclosed up front, planned for Phase 2.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754880"/>
            <a:ext cx="5394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754880"/>
            <a:ext cx="5394960" cy="73152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91947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Transparency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1520" y="52578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shows its source chunk and a numerical NLI faithfulness score. XAI-by-design — user can always trace and reject.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17920" y="4754880"/>
            <a:ext cx="5394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4754880"/>
            <a:ext cx="5394960" cy="73152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491947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Misuse &amp; citation ethics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0" y="52578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be misused to fabricate citations. The verifier exposes low-faithfulness scores so users see where the system is uncertain. The tool augments — does not replace — primary-source reading.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—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Planned 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" cy="45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RAG for Academic Research  •  Review 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9050">
            <a:solidFill>
              <a:srgbClr val="0F4C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9260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180015" y="292608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F4A261"/>
          </a:solidFill>
          <a:ln w="19050">
            <a:solidFill>
              <a:srgbClr val="CA6F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80015" y="29260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377440" y="2560320"/>
            <a:ext cx="1722044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377440" y="2560320"/>
            <a:ext cx="1722044" cy="73152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09862" y="2788920"/>
            <a:ext cx="457200" cy="4572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09862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423160" y="3337560"/>
            <a:ext cx="16306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Query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Planner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423160" y="3840480"/>
            <a:ext cx="16306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Q → q_1..q_n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82364" y="2560320"/>
            <a:ext cx="1722044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82364" y="2560320"/>
            <a:ext cx="1722044" cy="73152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14786" y="2788920"/>
            <a:ext cx="457200" cy="4572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4786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328084" y="3337560"/>
            <a:ext cx="16306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Retriever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328084" y="3840480"/>
            <a:ext cx="16306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+ CRAG grading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87288" y="2560320"/>
            <a:ext cx="1722044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87288" y="2560320"/>
            <a:ext cx="1722044" cy="73152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19710" y="2788920"/>
            <a:ext cx="457200" cy="4572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1971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233008" y="3337560"/>
            <a:ext cx="16306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Synthesizer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233008" y="3840480"/>
            <a:ext cx="16306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 inline cites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92211" y="2560320"/>
            <a:ext cx="1722044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092211" y="2560320"/>
            <a:ext cx="1722044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724633" y="2788920"/>
            <a:ext cx="457200" cy="4572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24633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137931" y="3337560"/>
            <a:ext cx="16306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Verifier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137931" y="3840480"/>
            <a:ext cx="16306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NLI entailment check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404593" y="4297680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04593" y="4297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011680" y="3383280"/>
            <a:ext cx="3657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4099484" y="3383280"/>
            <a:ext cx="1828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6004408" y="3383280"/>
            <a:ext cx="1828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7909331" y="3383280"/>
            <a:ext cx="1828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9814255" y="3383280"/>
            <a:ext cx="3657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7048310" y="4709160"/>
            <a:ext cx="-3809848" cy="0"/>
          </a:xfrm>
          <a:prstGeom prst="line">
            <a:avLst/>
          </a:prstGeom>
          <a:noFill/>
          <a:ln w="19050">
            <a:solidFill>
              <a:srgbClr val="CA6F1E"/>
            </a:solidFill>
            <a:prstDash val="dash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237744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feedback → revise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backend (swappable): </a:t>
            </a:r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 3.3 70B (cloud, fast)  ↔  Ollama Phi-3-mini (local, private)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stack: </a:t>
            </a:r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orchestration  •  FAISS-CPU + sentence-transformers (MiniLM)  •  DeBERTa-v3-MNLI verifier  •  Streamlit UI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References (IEEE)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" cy="45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RAG for Academic Research  •  Review 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110642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P. Lewis et al., "Retrieval-augmented generation for knowledge-intensive NLP tasks," NeurIPS, 2020.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A. Asai et al., "Self-RAG: Learning to retrieve, generate, and critique through self-reflection," ICLR, 2024.   arXiv:2310.11511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S.-Q. Yan et al., "Corrective retrieval augmented generation," arXiv:2401.15884, 2024.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A. Besrour et al., "SQuAI: Scientific question-answering with multi-agent RAG," arXiv:2510.15682, 2025.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A. Singh et al., "Agentic retrieval-augmented generation: A survey on agentic RAG," arXiv:2501.09136, 2025.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J. Wallat et al., "Correctness is not faithfulness in RAG attributions," arXiv:2412.18004, 2024.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T. Nguyen et al., "MA-RAG: Multi-agent RAG via collaborative chain-of-thought," arXiv:2505.20096, 2025.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 S. Es et al., "RAGAS: Automated evaluation of retrieval augmented generation," EACL System Demos, 2024.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 S. Jeong et al., "Adaptive-RAG: Learning to adapt RAG through question complexity," NAACL, 2024.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C.-M. Chang et al., "MAIN-RAG: Multi-agent filtering retrieval-augmented generation," Findings of ACL, 2025.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6126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bibliography with annotations: see References.docx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822960" y="3383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comments, and architecture critique are welcome.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4297680"/>
            <a:ext cx="548640" cy="45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4348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after Review-01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484632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Environment, vanilla-RAG baseline (Groq), small eval set.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pipeline with LangGraph + CRAG grading.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Faithfulness Verifier agent (NLI).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Ollama backend, evaluate both modes, Streamlit UI, technical report.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Multi-Agent RAG for Academic Research — Review 01</dc:title>
  <dc:subject>PptxGenJS Presentation</dc:subject>
  <dc:creator>M.Tech AI/ML Student</dc:creator>
  <cp:lastModifiedBy>M.Tech AI/ML Student</cp:lastModifiedBy>
  <cp:revision>1</cp:revision>
  <dcterms:created xsi:type="dcterms:W3CDTF">2026-05-29T16:25:43Z</dcterms:created>
  <dcterms:modified xsi:type="dcterms:W3CDTF">2026-05-29T16:25:43Z</dcterms:modified>
</cp:coreProperties>
</file>